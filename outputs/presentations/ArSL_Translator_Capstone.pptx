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4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sl-translator.streamlit.app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5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Arabic Sign Language</a:t>
            </a:r>
            <a:br/>
            <a:r>
              <a:t>Translator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DC9C0"/>
                </a:solidFill>
              </a:defRPr>
            </a:pPr>
            <a:r>
              <a:t>Real-time gesture recognition using MediaPipe and BiLSTM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Data Science Capstone  |  August 31,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348"/>
                </a:solidFill>
              </a:defRPr>
            </a:pPr>
            <a:r>
              <a:t>• The idea and problem</a:t>
            </a:r>
          </a:p>
          <a:p>
            <a:pPr>
              <a:spcAft>
                <a:spcPts val="1400"/>
              </a:spcAft>
              <a:defRPr sz="2100">
                <a:solidFill>
                  <a:srgbClr val="374348"/>
                </a:solidFill>
              </a:defRPr>
            </a:pPr>
            <a:r>
              <a:t>• Dataset and overall approach</a:t>
            </a:r>
          </a:p>
          <a:p>
            <a:pPr>
              <a:spcAft>
                <a:spcPts val="1400"/>
              </a:spcAft>
              <a:defRPr sz="2100">
                <a:solidFill>
                  <a:srgbClr val="374348"/>
                </a:solidFill>
              </a:defRPr>
            </a:pPr>
            <a:r>
              <a:t>• How the model works</a:t>
            </a:r>
          </a:p>
          <a:p>
            <a:pPr>
              <a:spcAft>
                <a:spcPts val="1400"/>
              </a:spcAft>
              <a:defRPr sz="2100">
                <a:solidFill>
                  <a:srgbClr val="374348"/>
                </a:solidFill>
              </a:defRPr>
            </a:pPr>
            <a:r>
              <a:t>• Demo / application</a:t>
            </a:r>
          </a:p>
          <a:p>
            <a:pPr>
              <a:spcAft>
                <a:spcPts val="1400"/>
              </a:spcAft>
              <a:defRPr sz="2100">
                <a:solidFill>
                  <a:srgbClr val="374348"/>
                </a:solidFill>
              </a:defRPr>
            </a:pPr>
            <a:r>
              <a:t>• Project outcome</a:t>
            </a:r>
          </a:p>
          <a:p>
            <a:pPr>
              <a:spcAft>
                <a:spcPts val="1400"/>
              </a:spcAft>
              <a:defRPr sz="2100">
                <a:solidFill>
                  <a:srgbClr val="374348"/>
                </a:solidFill>
              </a:defRPr>
            </a:pPr>
            <a:r>
              <a:t>• Recommendations</a:t>
            </a:r>
          </a:p>
          <a:p>
            <a:pPr>
              <a:spcAft>
                <a:spcPts val="1400"/>
              </a:spcAft>
              <a:defRPr sz="2100">
                <a:solidFill>
                  <a:srgbClr val="374348"/>
                </a:solidFill>
              </a:defRPr>
            </a:pPr>
            <a:r>
              <a:t>• 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Idea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673351"/>
            <a:ext cx="2980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130552"/>
            <a:ext cx="2980944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Sign language communication can be difficult when the other person does not understand the signs.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0288" y="1673351"/>
            <a:ext cx="2980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130552"/>
            <a:ext cx="2980944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Use a camera to observe a sign, recognize the movement, and return a simple text label.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673351"/>
            <a:ext cx="2980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The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130552"/>
            <a:ext cx="2980944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Build a real-time Arabic Sign Language translator using a trained AI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Business Problem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74348"/>
                </a:solidFill>
              </a:defRPr>
            </a:pPr>
            <a:r>
              <a:t>• Create an easier way to understand selected Arabic Sign Language gestures.</a:t>
            </a:r>
          </a:p>
          <a:p>
            <a:pPr>
              <a:spcAft>
                <a:spcPts val="1400"/>
              </a:spcAft>
              <a:defRPr sz="2000">
                <a:solidFill>
                  <a:srgbClr val="374348"/>
                </a:solidFill>
              </a:defRPr>
            </a:pPr>
            <a:r>
              <a:t>• Reduce the need for a human interpreter in simple communication situations.</a:t>
            </a:r>
          </a:p>
          <a:p>
            <a:pPr>
              <a:spcAft>
                <a:spcPts val="1400"/>
              </a:spcAft>
              <a:defRPr sz="2000">
                <a:solidFill>
                  <a:srgbClr val="374348"/>
                </a:solidFill>
              </a:defRPr>
            </a:pPr>
            <a:r>
              <a:t>• Provide a practical AI application that can work from a live camera.</a:t>
            </a:r>
          </a:p>
          <a:p>
            <a:pPr>
              <a:spcAft>
                <a:spcPts val="1400"/>
              </a:spcAft>
              <a:defRPr sz="2000">
                <a:solidFill>
                  <a:srgbClr val="374348"/>
                </a:solidFill>
              </a:defRPr>
            </a:pPr>
            <a:r>
              <a:t>• Focus on a clear, understandable output: the predicted sign as text.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Dataset &amp; Overall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67B"/>
                </a:solidFill>
              </a:defRPr>
            </a:pPr>
            <a:r>
              <a:t>KArSL + video frames + body/hand landmarks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46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437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39112"/>
            <a:ext cx="2843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rPr dirty="0" err="1"/>
              <a:t>KArSL</a:t>
            </a:r>
            <a:r>
              <a:rPr dirty="0"/>
              <a:t> dataset. Raw video data is extracted from .7z archives.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17320"/>
            <a:ext cx="3246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3128" y="1581912"/>
            <a:ext cx="28437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Selected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2039112"/>
            <a:ext cx="2843784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The focused model uses 31 number classes, 39 alphabet classes, and 5 selected 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17320"/>
            <a:ext cx="3246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1581912"/>
            <a:ext cx="28437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039112"/>
            <a:ext cx="2843784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Thank you, friend, house, door, and bed are the five selected words.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From Video to Prediction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423160"/>
            <a:ext cx="1600200" cy="658368"/>
          </a:xfrm>
          <a:prstGeom prst="roundRect">
            <a:avLst/>
          </a:prstGeom>
          <a:solidFill>
            <a:srgbClr val="DCEEEB"/>
          </a:solidFill>
          <a:ln>
            <a:solidFill>
              <a:srgbClr val="AD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56946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63942"/>
                </a:solidFill>
              </a:defRPr>
            </a:pPr>
            <a:r>
              <a:t>Video frames</a:t>
            </a:r>
          </a:p>
        </p:txBody>
      </p:sp>
      <p:sp>
        <p:nvSpPr>
          <p:cNvPr id="5" name="Chevron 4"/>
          <p:cNvSpPr/>
          <p:nvPr/>
        </p:nvSpPr>
        <p:spPr>
          <a:xfrm>
            <a:off x="2221992" y="2615184"/>
            <a:ext cx="502920" cy="411480"/>
          </a:xfrm>
          <a:prstGeom prst="chevron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68880" y="2423160"/>
            <a:ext cx="1600200" cy="658368"/>
          </a:xfrm>
          <a:prstGeom prst="roundRect">
            <a:avLst/>
          </a:prstGeom>
          <a:solidFill>
            <a:srgbClr val="DCEEEB"/>
          </a:solidFill>
          <a:ln>
            <a:solidFill>
              <a:srgbClr val="AD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256946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63942"/>
                </a:solidFill>
              </a:defRPr>
            </a:pPr>
            <a:r>
              <a:t>MediaPipe</a:t>
            </a:r>
          </a:p>
        </p:txBody>
      </p:sp>
      <p:sp>
        <p:nvSpPr>
          <p:cNvPr id="8" name="Chevron 7"/>
          <p:cNvSpPr/>
          <p:nvPr/>
        </p:nvSpPr>
        <p:spPr>
          <a:xfrm>
            <a:off x="4096512" y="2615184"/>
            <a:ext cx="502920" cy="411480"/>
          </a:xfrm>
          <a:prstGeom prst="chevron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43400" y="2423160"/>
            <a:ext cx="1600200" cy="658368"/>
          </a:xfrm>
          <a:prstGeom prst="roundRect">
            <a:avLst/>
          </a:prstGeom>
          <a:solidFill>
            <a:srgbClr val="DCEEEB"/>
          </a:solidFill>
          <a:ln>
            <a:solidFill>
              <a:srgbClr val="AD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56946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63942"/>
                </a:solidFill>
              </a:defRPr>
            </a:pPr>
            <a:r>
              <a:t>Landmarks</a:t>
            </a:r>
          </a:p>
        </p:txBody>
      </p:sp>
      <p:sp>
        <p:nvSpPr>
          <p:cNvPr id="11" name="Chevron 10"/>
          <p:cNvSpPr/>
          <p:nvPr/>
        </p:nvSpPr>
        <p:spPr>
          <a:xfrm>
            <a:off x="5971032" y="2615184"/>
            <a:ext cx="502920" cy="411480"/>
          </a:xfrm>
          <a:prstGeom prst="chevron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2423160"/>
            <a:ext cx="1600200" cy="658368"/>
          </a:xfrm>
          <a:prstGeom prst="roundRect">
            <a:avLst/>
          </a:prstGeom>
          <a:solidFill>
            <a:srgbClr val="DCEEEB"/>
          </a:solidFill>
          <a:ln>
            <a:solidFill>
              <a:srgbClr val="AD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256946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63942"/>
                </a:solidFill>
              </a:defRPr>
            </a:pPr>
            <a:r>
              <a:t>30-frame sequence</a:t>
            </a:r>
          </a:p>
        </p:txBody>
      </p:sp>
      <p:sp>
        <p:nvSpPr>
          <p:cNvPr id="14" name="Chevron 13"/>
          <p:cNvSpPr/>
          <p:nvPr/>
        </p:nvSpPr>
        <p:spPr>
          <a:xfrm>
            <a:off x="7845552" y="2615184"/>
            <a:ext cx="502920" cy="411480"/>
          </a:xfrm>
          <a:prstGeom prst="chevron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2423160"/>
            <a:ext cx="1600200" cy="658368"/>
          </a:xfrm>
          <a:prstGeom prst="roundRect">
            <a:avLst/>
          </a:prstGeom>
          <a:solidFill>
            <a:srgbClr val="DCEEEB"/>
          </a:solidFill>
          <a:ln>
            <a:solidFill>
              <a:srgbClr val="AD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256946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63942"/>
                </a:solidFill>
              </a:defRPr>
            </a:pPr>
            <a:r>
              <a:t>BiLSTM</a:t>
            </a:r>
          </a:p>
        </p:txBody>
      </p:sp>
      <p:sp>
        <p:nvSpPr>
          <p:cNvPr id="17" name="Chevron 16"/>
          <p:cNvSpPr/>
          <p:nvPr/>
        </p:nvSpPr>
        <p:spPr>
          <a:xfrm>
            <a:off x="9720072" y="2615184"/>
            <a:ext cx="502920" cy="411480"/>
          </a:xfrm>
          <a:prstGeom prst="chevron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966960" y="2423160"/>
            <a:ext cx="1600200" cy="658368"/>
          </a:xfrm>
          <a:prstGeom prst="roundRect">
            <a:avLst/>
          </a:prstGeom>
          <a:solidFill>
            <a:srgbClr val="DCEEEB"/>
          </a:solidFill>
          <a:ln>
            <a:solidFill>
              <a:srgbClr val="AD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0" y="256946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63942"/>
                </a:solidFill>
              </a:defRPr>
            </a:pPr>
            <a:r>
              <a:t>Text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74348"/>
                </a:solidFill>
              </a:defRPr>
            </a:pPr>
            <a:r>
              <a:t>• Each frame is resized to 256 × 256.</a:t>
            </a:r>
          </a:p>
          <a:p>
            <a:pPr>
              <a:spcAft>
                <a:spcPts val="1400"/>
              </a:spcAft>
              <a:defRPr sz="1600">
                <a:solidFill>
                  <a:srgbClr val="374348"/>
                </a:solidFill>
              </a:defRPr>
            </a:pPr>
            <a:r>
              <a:t>• Pose + left hand + right hand landmarks are normalized.</a:t>
            </a:r>
          </a:p>
          <a:p>
            <a:pPr>
              <a:spcAft>
                <a:spcPts val="1400"/>
              </a:spcAft>
              <a:defRPr sz="1600">
                <a:solidFill>
                  <a:srgbClr val="374348"/>
                </a:solidFill>
              </a:defRPr>
            </a:pPr>
            <a:r>
              <a:t>• Each sign is resampled to 30 frames.</a:t>
            </a:r>
          </a:p>
          <a:p>
            <a:pPr>
              <a:spcAft>
                <a:spcPts val="1400"/>
              </a:spcAft>
              <a:defRPr sz="1600">
                <a:solidFill>
                  <a:srgbClr val="374348"/>
                </a:solidFill>
              </a:defRPr>
            </a:pPr>
            <a:r>
              <a:t>• The final input contains 225 values per frame.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Model — Simple Explanation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5074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" y="1627632"/>
            <a:ext cx="467258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BiLSTM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084832"/>
            <a:ext cx="4672583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The model reads the sign as a short sequence of movements. It looks at the movement in both directions to learn useful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074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3368" y="1627632"/>
            <a:ext cx="467258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Why it fits the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8" y="2084832"/>
            <a:ext cx="4672583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A sign is not only one image. It is a movement over time. The BiLSTM is designed to learn patterns across a sequence.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Training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2461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581912"/>
            <a:ext cx="28437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Data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039112"/>
            <a:ext cx="2843784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80% training</a:t>
            </a:r>
            <a:br/>
            <a:r>
              <a:t>20% validation</a:t>
            </a:r>
            <a:br/>
            <a:r>
              <a:t>Random seed: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417320"/>
            <a:ext cx="32461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53128" y="1581912"/>
            <a:ext cx="28437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3128" y="2039112"/>
            <a:ext cx="2843784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30 epochs</a:t>
            </a:r>
            <a:br/>
            <a:r>
              <a:t>Batch size: 64</a:t>
            </a:r>
            <a:br/>
            <a:r>
              <a:t>Adam optimizer</a:t>
            </a:r>
            <a:br/>
            <a:r>
              <a:t>Learning rate: 0.001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2461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581912"/>
            <a:ext cx="28437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Augmentation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039112"/>
            <a:ext cx="2843784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Rotation</a:t>
            </a:r>
            <a:br/>
            <a:r>
              <a:t>Scaling</a:t>
            </a:r>
            <a:br/>
            <a:r>
              <a:t>Small shifts</a:t>
            </a:r>
            <a:br/>
            <a:r>
              <a:t>Joint jitter</a:t>
            </a:r>
            <a:br/>
            <a:r>
              <a:t>Frame dropping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Evaluation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rPr dirty="0"/>
              <a:t>•</a:t>
            </a:r>
            <a:r>
              <a:rPr lang="en-US" dirty="0"/>
              <a:t> The notebook t</a:t>
            </a:r>
            <a:r>
              <a:rPr dirty="0"/>
              <a:t>racks training accuracy, validation accuracy, training loss, and validation loss.</a:t>
            </a:r>
          </a:p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rPr dirty="0"/>
              <a:t>• The best validation model is saved during training.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3977639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33488" y="4142231"/>
            <a:ext cx="3255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Best Validation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3488" y="4594859"/>
            <a:ext cx="32552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rPr lang="en-US" sz="1600" b="1" dirty="0">
                <a:solidFill>
                  <a:srgbClr val="3743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94.86%</a:t>
            </a:r>
            <a:endParaRPr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Focused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74348"/>
                </a:solidFill>
              </a:defRPr>
            </a:pPr>
            <a:r>
              <a:t>• A second model is trained for a smaller, practical vocabulary.</a:t>
            </a:r>
          </a:p>
          <a:p>
            <a:pPr>
              <a:spcAft>
                <a:spcPts val="1400"/>
              </a:spcAft>
              <a:defRPr sz="1800">
                <a:solidFill>
                  <a:srgbClr val="374348"/>
                </a:solidFill>
              </a:defRPr>
            </a:pPr>
            <a:r>
              <a:t>• 31 number classes: 0001–0031</a:t>
            </a:r>
          </a:p>
          <a:p>
            <a:pPr>
              <a:spcAft>
                <a:spcPts val="1400"/>
              </a:spcAft>
              <a:defRPr sz="1800">
                <a:solidFill>
                  <a:srgbClr val="374348"/>
                </a:solidFill>
              </a:defRPr>
            </a:pPr>
            <a:r>
              <a:t>• 39 alphabet classes: 0032–0070</a:t>
            </a:r>
          </a:p>
          <a:p>
            <a:pPr>
              <a:spcAft>
                <a:spcPts val="1400"/>
              </a:spcAft>
              <a:defRPr sz="1800">
                <a:solidFill>
                  <a:srgbClr val="374348"/>
                </a:solidFill>
              </a:defRPr>
            </a:pPr>
            <a:r>
              <a:t>• 5 words: thank you, friend, house, door, bed</a:t>
            </a:r>
          </a:p>
          <a:p>
            <a:pPr>
              <a:spcAft>
                <a:spcPts val="1400"/>
              </a:spcAft>
              <a:defRPr sz="1800">
                <a:solidFill>
                  <a:srgbClr val="374348"/>
                </a:solidFill>
              </a:defRPr>
            </a:pPr>
            <a:r>
              <a:t>• The same BiLSTM design and 80/20 split are used.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Deployed Demo / App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50749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8" y="1627632"/>
            <a:ext cx="467258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Live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084832"/>
            <a:ext cx="4672583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The project is designed to recognize gestures from a live camera and return the predicted text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0749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3368" y="1627632"/>
            <a:ext cx="467258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8" y="2084832"/>
            <a:ext cx="4672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rPr lang="en-US" sz="2800" b="1" dirty="0">
                <a:hlinkClick r:id="rId2"/>
              </a:rPr>
              <a:t>App</a:t>
            </a:r>
            <a:endParaRPr sz="2800" b="1" dirty="0"/>
          </a:p>
        </p:txBody>
      </p:sp>
      <p:sp>
        <p:nvSpPr>
          <p:cNvPr id="9" name="Rectangle 8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t>• A complete pipeline from video frames to landmark sequences.</a:t>
            </a:r>
          </a:p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t>• A custom BiLSTM model for sign classification.</a:t>
            </a:r>
          </a:p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t>• A focused model for numbers, letters, and five selected words.</a:t>
            </a:r>
          </a:p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t>• Saved model checkpoints for reuse.</a:t>
            </a:r>
          </a:p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t>• A foundation for a real-time Arabic Sign Language translation application.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rPr dirty="0"/>
              <a:t>• Use more varied training examples and signing styles.</a:t>
            </a:r>
          </a:p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rPr dirty="0"/>
              <a:t>• Test the system with different lighting, backgrounds, and camera positions.</a:t>
            </a:r>
          </a:p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rPr dirty="0"/>
              <a:t>• Add more Arabic signs and build a larger vocabulary.</a:t>
            </a:r>
          </a:p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rPr dirty="0"/>
              <a:t>• Evaluate the model with clear class-level metrics and error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1206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581912"/>
            <a:ext cx="471830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039112"/>
            <a:ext cx="4718303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The focused vocabulary is limited. Performance can change with different users, camera angles, backgrounds, and signing styles.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1206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4807" y="1581912"/>
            <a:ext cx="471830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918C"/>
                </a:solidFill>
              </a:defRPr>
            </a:pPr>
            <a: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4807" y="2039112"/>
            <a:ext cx="4718303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348"/>
                </a:solidFill>
              </a:defRPr>
            </a:pPr>
            <a:r>
              <a:t>Insha’allah, future work can expand the vocabulary, improve real-world testing, support more natural sentences, and move toward production 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3942"/>
                </a:solidFill>
              </a:defRPr>
            </a:pPr>
            <a:r>
              <a:t>Long-Term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rPr dirty="0"/>
              <a:t>• Deploy the model in a web or mobile application.</a:t>
            </a:r>
          </a:p>
          <a:p>
            <a:pPr>
              <a:spcAft>
                <a:spcPts val="1400"/>
              </a:spcAft>
              <a:defRPr sz="1900">
                <a:solidFill>
                  <a:srgbClr val="374348"/>
                </a:solidFill>
              </a:defRPr>
            </a:pPr>
            <a:r>
              <a:rPr dirty="0"/>
              <a:t>• Build a larger and more diverse Arabic Sign Language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10528"/>
            <a:ext cx="10835640" cy="18288"/>
          </a:xfrm>
          <a:prstGeom prst="rect">
            <a:avLst/>
          </a:prstGeom>
          <a:solidFill>
            <a:srgbClr val="AD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37960"/>
            <a:ext cx="10835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7B"/>
                </a:solidFill>
              </a:defRPr>
            </a:pPr>
            <a:r>
              <a:t>Arabic Sign Language Translation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3000">
              <a:schemeClr val="tx2">
                <a:lumMod val="40000"/>
                <a:lumOff val="60000"/>
              </a:schemeClr>
            </a:gs>
            <a:gs pos="87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258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ADC9C0"/>
                </a:solidFill>
              </a:defRPr>
            </a:pPr>
            <a:r>
              <a:t>Camera → Landmarks → BiLSTM → Text</a:t>
            </a:r>
          </a:p>
          <a:p>
            <a:pPr algn="ctr">
              <a:defRPr sz="1900">
                <a:solidFill>
                  <a:srgbClr val="FFFFFF"/>
                </a:solidFill>
              </a:defRPr>
            </a:pPr>
            <a:r>
              <a:t>A simple AI pipeline for recognizing selected Arabic Sign Language gestures.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1206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761</Words>
  <Application>Microsoft Office PowerPoint</Application>
  <PresentationFormat>شاشة عريضة</PresentationFormat>
  <Paragraphs>106</Paragraphs>
  <Slides>16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FADHEL ABBAS MANSOOR ALKHBBAZ</cp:lastModifiedBy>
  <cp:revision>2</cp:revision>
  <dcterms:created xsi:type="dcterms:W3CDTF">2013-01-27T09:14:16Z</dcterms:created>
  <dcterms:modified xsi:type="dcterms:W3CDTF">2026-08-31T19:07:55Z</dcterms:modified>
  <cp:category/>
</cp:coreProperties>
</file>